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68" r:id="rId1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E9BBE-DC25-4F7E-9918-23994336C464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AC979-57B4-4E43-B45E-81338B5E833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130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19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368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932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751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141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832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4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266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561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2009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042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0EBA8-D423-49EB-A72A-868635372785}" type="datetimeFigureOut">
              <a:rPr lang="es-AR" smtClean="0"/>
              <a:t>09/06/2021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7E58A-040D-4088-A99C-3947EAF15A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217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ciot@ign.gob.ar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3566" cy="685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1752600" y="304800"/>
            <a:ext cx="4572000" cy="9417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840"/>
              </a:spcAft>
            </a:pPr>
            <a:r>
              <a:rPr lang="es-AR" sz="2400" b="1" kern="1800" dirty="0" smtClean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CIOT: Comisión de Igualdad de Oportunidades y de Trato</a:t>
            </a:r>
            <a:endParaRPr lang="es-A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81000" y="1651045"/>
            <a:ext cx="4495800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s-AR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CIOT, órgano paritario, creada en el marco de las previsiones del Convenio Colectivo de Trabajo General para la Administración Pública Nacional, Título IX, Artículos 121 a 128, el cual fuera homologado mediante el Decreto N° 214/2006 (PEN), en los términos de la Ley N° 24.185.</a:t>
            </a:r>
            <a:endParaRPr lang="es-A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475196"/>
            <a:ext cx="3504397" cy="256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5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30164" y="1941542"/>
            <a:ext cx="7951836" cy="3281807"/>
          </a:xfrm>
          <a:prstGeom prst="rect">
            <a:avLst/>
          </a:prstGeom>
          <a:noFill/>
        </p:spPr>
        <p:txBody>
          <a:bodyPr wrap="square" lIns="80147" tIns="40074" rIns="80147" bIns="40074" rtlCol="0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ES" sz="1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es-E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 discriminación</a:t>
            </a:r>
          </a:p>
          <a:p>
            <a:pPr>
              <a:buClr>
                <a:srgbClr val="0070C0"/>
              </a:buClr>
            </a:pPr>
            <a:endParaRPr lang="es-E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igualdad de oportunidades y de </a:t>
            </a:r>
            <a:r>
              <a:rPr lang="es-AR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trato</a:t>
            </a:r>
          </a:p>
          <a:p>
            <a:pPr>
              <a:buClr>
                <a:srgbClr val="0070C0"/>
              </a:buClr>
            </a:pPr>
            <a:endParaRPr lang="es-A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acciones tendientes a la prevención y erradicación de la violencia </a:t>
            </a:r>
            <a:r>
              <a:rPr lang="es-AR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laboral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s-A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eliminación de todas las formas de discriminación contra la </a:t>
            </a:r>
            <a:r>
              <a:rPr lang="es-AR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mujer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s-A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integración laboral de personas con discapacidad o capacidades </a:t>
            </a:r>
            <a:r>
              <a:rPr lang="es-AR" sz="16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diferentes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s-A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integración del cupo </a:t>
            </a:r>
            <a:r>
              <a:rPr lang="es-AR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</a:t>
            </a:r>
            <a:r>
              <a:rPr lang="es-AR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(colectivo LGTB)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s-E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491423" y="272492"/>
            <a:ext cx="8162495" cy="450263"/>
          </a:xfrm>
          <a:prstGeom prst="rect">
            <a:avLst/>
          </a:prstGeom>
          <a:noFill/>
        </p:spPr>
        <p:txBody>
          <a:bodyPr wrap="square" lIns="80147" tIns="40074" rIns="80147" bIns="40074" rtlCol="0">
            <a:spAutoFit/>
          </a:bodyPr>
          <a:lstStyle/>
          <a:p>
            <a:r>
              <a:rPr lang="es-ES" sz="2400" b="1" dirty="0" smtClean="0">
                <a:solidFill>
                  <a:srgbClr val="0D6297"/>
                </a:solidFill>
                <a:latin typeface="Kozuka Gothic Pro H" pitchFamily="34" charset="-128"/>
                <a:ea typeface="Kozuka Gothic Pro H" pitchFamily="34" charset="-128"/>
                <a:cs typeface="Arial" pitchFamily="34" charset="0"/>
              </a:rPr>
              <a:t>Objetivos:</a:t>
            </a:r>
            <a:endParaRPr lang="es-ES" sz="2400" b="1" dirty="0">
              <a:solidFill>
                <a:srgbClr val="0D6297"/>
              </a:solidFill>
              <a:latin typeface="Kozuka Gothic Pro H" pitchFamily="34" charset="-128"/>
              <a:ea typeface="Kozuka Gothic Pro H" pitchFamily="34" charset="-128"/>
              <a:cs typeface="Arial" pitchFamily="34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430163" y="933114"/>
            <a:ext cx="8028037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dirty="0"/>
              <a:t>La CIOT tiene como objetivos promover el cumplimiento de las </a:t>
            </a:r>
            <a:r>
              <a:rPr lang="es-AR" dirty="0" smtClean="0"/>
              <a:t>clausulas </a:t>
            </a:r>
            <a:r>
              <a:rPr lang="es-AR" dirty="0"/>
              <a:t>del Convenio Colectivo de Trabajo, los principios de: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5951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228600" y="838200"/>
            <a:ext cx="7951836" cy="5036133"/>
          </a:xfrm>
          <a:prstGeom prst="rect">
            <a:avLst/>
          </a:prstGeom>
          <a:noFill/>
        </p:spPr>
        <p:txBody>
          <a:bodyPr wrap="square" lIns="80147" tIns="40074" rIns="80147" bIns="40074" rtlCol="0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Representantes del Estado empleador:</a:t>
            </a:r>
          </a:p>
          <a:p>
            <a:pPr>
              <a:buClr>
                <a:srgbClr val="0070C0"/>
              </a:buClr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Titulares: Clarisa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Anabella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Fregeiro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Maria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Eugenia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Bonfanti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/Responsable de servicio de sanidad</a:t>
            </a: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Suplentes: Romina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Guzman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/Romina Soledad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Tilio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Alejandro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Puchet</a:t>
            </a: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</a:t>
            </a:r>
            <a:r>
              <a:rPr lang="es-A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gremial </a:t>
            </a: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buClr>
                <a:srgbClr val="0070C0"/>
              </a:buClr>
            </a:pPr>
            <a:endParaRPr lang="es-AR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Unión </a:t>
            </a:r>
            <a:r>
              <a:rPr lang="es-A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 Personal Civil de la Nación (UPCN) </a:t>
            </a: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buClr>
                <a:srgbClr val="0070C0"/>
              </a:buClr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Titulares : 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Carolina Acevedo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Pablo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Luchetta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Suplentes: 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Noelia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Mendez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Gabriel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Astorino</a:t>
            </a: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Asociación </a:t>
            </a:r>
            <a:r>
              <a:rPr lang="es-A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Trabajadores del Estado (ATE</a:t>
            </a:r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buClr>
                <a:srgbClr val="0070C0"/>
              </a:buClr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Titular: Valeria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Martinez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Suplente :Carlos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Czebotaronok</a:t>
            </a: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Clr>
                <a:srgbClr val="0070C0"/>
              </a:buClr>
            </a:pPr>
            <a:endParaRPr lang="es-E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491421" y="33374"/>
            <a:ext cx="8162495" cy="511818"/>
          </a:xfrm>
          <a:prstGeom prst="rect">
            <a:avLst/>
          </a:prstGeom>
          <a:noFill/>
        </p:spPr>
        <p:txBody>
          <a:bodyPr wrap="square" lIns="80147" tIns="40074" rIns="80147" bIns="40074" rtlCol="0">
            <a:spAutoFit/>
          </a:bodyPr>
          <a:lstStyle/>
          <a:p>
            <a:r>
              <a:rPr lang="es-ES" sz="2800" b="1" dirty="0" smtClean="0">
                <a:solidFill>
                  <a:srgbClr val="0D6297"/>
                </a:solidFill>
                <a:latin typeface="Kozuka Gothic Pro H" pitchFamily="34" charset="-128"/>
                <a:ea typeface="Kozuka Gothic Pro H" pitchFamily="34" charset="-128"/>
                <a:cs typeface="Arial" pitchFamily="34" charset="0"/>
              </a:rPr>
              <a:t>Nuestra Delegación esta integrada por:</a:t>
            </a:r>
            <a:endParaRPr lang="es-ES" sz="2800" b="1" dirty="0">
              <a:solidFill>
                <a:srgbClr val="0D6297"/>
              </a:solidFill>
              <a:latin typeface="Kozuka Gothic Pro H" pitchFamily="34" charset="-128"/>
              <a:ea typeface="Kozuka Gothic Pro H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69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grpSp>
        <p:nvGrpSpPr>
          <p:cNvPr id="7" name="6 Grupo"/>
          <p:cNvGrpSpPr/>
          <p:nvPr/>
        </p:nvGrpSpPr>
        <p:grpSpPr>
          <a:xfrm>
            <a:off x="1752600" y="1676400"/>
            <a:ext cx="5715000" cy="3276600"/>
            <a:chOff x="2538388" y="3780631"/>
            <a:chExt cx="5616624" cy="430887"/>
          </a:xfrm>
          <a:solidFill>
            <a:schemeClr val="bg1">
              <a:lumMod val="95000"/>
            </a:schemeClr>
          </a:solidFill>
        </p:grpSpPr>
        <p:sp>
          <p:nvSpPr>
            <p:cNvPr id="8" name="7 Rectángulo"/>
            <p:cNvSpPr/>
            <p:nvPr/>
          </p:nvSpPr>
          <p:spPr>
            <a:xfrm>
              <a:off x="2538388" y="3780631"/>
              <a:ext cx="5616624" cy="4308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9" name="8 Rectángulo"/>
            <p:cNvSpPr/>
            <p:nvPr/>
          </p:nvSpPr>
          <p:spPr>
            <a:xfrm>
              <a:off x="2538388" y="3780631"/>
              <a:ext cx="5616624" cy="40720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endParaRPr lang="es-ES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2" name="1 Rectángulo"/>
          <p:cNvSpPr/>
          <p:nvPr/>
        </p:nvSpPr>
        <p:spPr>
          <a:xfrm>
            <a:off x="1752600" y="533400"/>
            <a:ext cx="4572000" cy="4740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840"/>
              </a:spcAft>
            </a:pPr>
            <a:r>
              <a:rPr lang="es-AR" sz="2400" b="1" kern="1800" dirty="0" smtClean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Nuestras funciones:</a:t>
            </a:r>
            <a:endParaRPr lang="es-A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219200" y="1679047"/>
            <a:ext cx="7086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 las funciones de la Delegación de la CIOT se encuentran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orientación, información y asesoramiento a los trabajadores del organismo  víctimas de discriminación o violencia laboral, procurando la solución pertinente en el ámbito en que se produjo el abuso.</a:t>
            </a:r>
          </a:p>
        </p:txBody>
      </p:sp>
    </p:spTree>
    <p:extLst>
      <p:ext uri="{BB962C8B-B14F-4D97-AF65-F5344CB8AC3E}">
        <p14:creationId xmlns:p14="http://schemas.microsoft.com/office/powerpoint/2010/main" val="306809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grpSp>
        <p:nvGrpSpPr>
          <p:cNvPr id="7" name="6 Grupo"/>
          <p:cNvGrpSpPr/>
          <p:nvPr/>
        </p:nvGrpSpPr>
        <p:grpSpPr>
          <a:xfrm>
            <a:off x="1752600" y="1676400"/>
            <a:ext cx="5715000" cy="3276600"/>
            <a:chOff x="2538388" y="3780631"/>
            <a:chExt cx="5616624" cy="430887"/>
          </a:xfrm>
          <a:solidFill>
            <a:schemeClr val="bg1">
              <a:lumMod val="95000"/>
            </a:schemeClr>
          </a:solidFill>
        </p:grpSpPr>
        <p:sp>
          <p:nvSpPr>
            <p:cNvPr id="8" name="7 Rectángulo"/>
            <p:cNvSpPr/>
            <p:nvPr/>
          </p:nvSpPr>
          <p:spPr>
            <a:xfrm>
              <a:off x="2538388" y="3780631"/>
              <a:ext cx="5616624" cy="4308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9" name="8 Rectángulo"/>
            <p:cNvSpPr/>
            <p:nvPr/>
          </p:nvSpPr>
          <p:spPr>
            <a:xfrm>
              <a:off x="2538388" y="3780631"/>
              <a:ext cx="5616624" cy="40720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endParaRPr lang="es-ES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2" name="1 Rectángulo"/>
          <p:cNvSpPr/>
          <p:nvPr/>
        </p:nvSpPr>
        <p:spPr>
          <a:xfrm>
            <a:off x="1752600" y="533400"/>
            <a:ext cx="4572000" cy="8987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840"/>
              </a:spcAft>
            </a:pPr>
            <a:r>
              <a:rPr lang="es-AR" sz="2400" b="1" kern="1800" dirty="0" smtClean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¿Quiénes pueden denunciar?</a:t>
            </a:r>
            <a:endParaRPr lang="es-A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04800" y="1679047"/>
            <a:ext cx="8153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denuncia que se presente SOLO es viable para el personal comprendido en el Convenio Colectivo de Trabajo General (CCTG) para la Administración Pública Nacional homologado por Decreto N° 214/06 y cuya relación de empleo se encuentre vigente. </a:t>
            </a:r>
          </a:p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el trámite debe individualizarse la persona/s a las que se denuncia, relación </a:t>
            </a:r>
            <a:r>
              <a:rPr lang="es-A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jerárquica existente, situación de revista y la descripción de los hechos ocurridos.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 desea se puede adjuntar documentación</a:t>
            </a:r>
            <a:b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misma será tratada por la COMISION DE IGUALDAD DE OPORTUNIDADES Y DE TRATO, de acuerdo al orden de ingreso que tenga. </a:t>
            </a:r>
          </a:p>
        </p:txBody>
      </p:sp>
    </p:spTree>
    <p:extLst>
      <p:ext uri="{BB962C8B-B14F-4D97-AF65-F5344CB8AC3E}">
        <p14:creationId xmlns:p14="http://schemas.microsoft.com/office/powerpoint/2010/main" val="156396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grpSp>
        <p:nvGrpSpPr>
          <p:cNvPr id="7" name="6 Grupo"/>
          <p:cNvGrpSpPr/>
          <p:nvPr/>
        </p:nvGrpSpPr>
        <p:grpSpPr>
          <a:xfrm>
            <a:off x="1371600" y="1586357"/>
            <a:ext cx="5715000" cy="3276600"/>
            <a:chOff x="2538388" y="3780631"/>
            <a:chExt cx="5616624" cy="430887"/>
          </a:xfrm>
          <a:solidFill>
            <a:schemeClr val="bg1">
              <a:lumMod val="95000"/>
            </a:schemeClr>
          </a:solidFill>
        </p:grpSpPr>
        <p:sp>
          <p:nvSpPr>
            <p:cNvPr id="8" name="7 Rectángulo"/>
            <p:cNvSpPr/>
            <p:nvPr/>
          </p:nvSpPr>
          <p:spPr>
            <a:xfrm>
              <a:off x="2538388" y="3780631"/>
              <a:ext cx="5616624" cy="4308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9" name="8 Rectángulo"/>
            <p:cNvSpPr/>
            <p:nvPr/>
          </p:nvSpPr>
          <p:spPr>
            <a:xfrm>
              <a:off x="2538388" y="3780631"/>
              <a:ext cx="5616624" cy="40720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endParaRPr lang="es-ES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2" name="1 Rectángulo"/>
          <p:cNvSpPr/>
          <p:nvPr/>
        </p:nvSpPr>
        <p:spPr>
          <a:xfrm>
            <a:off x="1752600" y="533400"/>
            <a:ext cx="4572000" cy="9417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840"/>
              </a:spcAft>
            </a:pPr>
            <a:r>
              <a:rPr lang="es-AR" sz="2400" b="1" kern="1800" dirty="0" smtClean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 contamos como realizar la denuncia:</a:t>
            </a:r>
            <a:endParaRPr lang="es-A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52400" y="1679047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Delegación podrá recibir denuncias en forma escrita e individualmente, </a:t>
            </a:r>
            <a:r>
              <a:rPr lang="es-A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observando las debidas garantías de confidencialidad, discreción, imparcialidad, 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celeridad y resguardo de la identidad de el/los afectado/s e impulsar su tratamiento y resolución por la autoridad administrativa competente.</a:t>
            </a:r>
          </a:p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 un sobre, guarda la denuncia con los siguientes datos (exclusivamente para la denuncia en formato presencial/papel):</a:t>
            </a:r>
          </a:p>
          <a:p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2 Flecha derecha"/>
          <p:cNvSpPr/>
          <p:nvPr/>
        </p:nvSpPr>
        <p:spPr>
          <a:xfrm>
            <a:off x="3314700" y="4077413"/>
            <a:ext cx="1447800" cy="785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292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434" y="381000"/>
            <a:ext cx="83196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 nombre y apellido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Tipo 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número de documento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Domicilio en el que serán válidas las notificaciones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Teléfono (opcional mail, celular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Organismo o dependencia donde cumplís tus funciones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Situación de revista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Nombre, apellido, cargo y situación de revista del denunciado, si no </a:t>
            </a:r>
            <a:r>
              <a:rPr lang="es-A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tenés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estos datos, cualquier elemento que ayude su individualización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0">
              <a:buClr>
                <a:srgbClr val="0070C0"/>
              </a:buClr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93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228600" y="609600"/>
            <a:ext cx="8077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Mencioná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relación jerárquica entre denunciante y denunciado, Si la misma no deriva en un nombramiento formal, </a:t>
            </a: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indicá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identidad y el cargo de los funcionarios que, de hecho, hubiesen investido de autoridad a quien sindica como autor de la conducta denunciada.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relato de los hechos denunciados y, en cuanto fuese posible, las circunstancias de lugar, tiempo, modo de ejecución y demás elementos que puedan conducir a su esclarecimiento.</a:t>
            </a: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endParaRPr lang="es-A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s-AR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Firmá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denuncia.</a:t>
            </a: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8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2" name="1 Rectángulo"/>
          <p:cNvSpPr/>
          <p:nvPr/>
        </p:nvSpPr>
        <p:spPr>
          <a:xfrm>
            <a:off x="1752600" y="533400"/>
            <a:ext cx="4572000" cy="4740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840"/>
              </a:spcAft>
            </a:pPr>
            <a:r>
              <a:rPr lang="es-AR" sz="2400" b="1" kern="1800" dirty="0" smtClean="0">
                <a:solidFill>
                  <a:srgbClr val="33333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¿Cómo envío la denuncia?</a:t>
            </a:r>
            <a:endParaRPr lang="es-A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04800" y="1679047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AR" dirty="0"/>
              <a:t> </a:t>
            </a:r>
          </a:p>
          <a:p>
            <a:pPr lvl="0" fontAlgn="t"/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Denuncia 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modo presencial en los buzones que se encuentran en el Organismo</a:t>
            </a:r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0" fontAlgn="t"/>
            <a:r>
              <a:rPr lang="es-AR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2- Trámite a distancia, recibido por CIOT central.</a:t>
            </a:r>
            <a:endParaRPr lang="es-A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9279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304800" y="1679047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AR" dirty="0"/>
              <a:t> </a:t>
            </a:r>
            <a:r>
              <a:rPr lang="es-A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95"/>
          <a:stretch/>
        </p:blipFill>
        <p:spPr>
          <a:xfrm>
            <a:off x="152399" y="12500"/>
            <a:ext cx="2734141" cy="3417004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5" b="13715"/>
          <a:stretch/>
        </p:blipFill>
        <p:spPr>
          <a:xfrm>
            <a:off x="152400" y="3444289"/>
            <a:ext cx="2734140" cy="319991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581400" y="9144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BUZÓN EDIFICIO ADMINISTRATIVO</a:t>
            </a:r>
          </a:p>
          <a:p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Planta baja.</a:t>
            </a:r>
            <a:endParaRPr lang="es-A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810000" y="3733800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BUZÓN EDIFICIO TÉCNICO</a:t>
            </a:r>
          </a:p>
          <a:p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Planta baja.</a:t>
            </a:r>
            <a:endParaRPr lang="es-A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96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B710-522F-426E-A7F3-975FB346B4B7}" type="slidenum">
              <a:rPr lang="es-ES" smtClean="0"/>
              <a:pPr/>
              <a:t>12</a:t>
            </a:fld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" y="1008"/>
            <a:ext cx="9144477" cy="6856992"/>
          </a:xfrm>
          <a:prstGeom prst="rect">
            <a:avLst/>
          </a:prstGeom>
        </p:spPr>
      </p:pic>
      <p:sp>
        <p:nvSpPr>
          <p:cNvPr id="2" name="1 CuadroTexto"/>
          <p:cNvSpPr txBox="1"/>
          <p:nvPr/>
        </p:nvSpPr>
        <p:spPr>
          <a:xfrm>
            <a:off x="533400" y="3048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CONTACTO</a:t>
            </a:r>
            <a:r>
              <a:rPr lang="es-AR" b="1" dirty="0" smtClean="0"/>
              <a:t>:        </a:t>
            </a:r>
            <a:r>
              <a:rPr lang="es-AR" b="1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ciot@ign.gob.ar</a:t>
            </a:r>
            <a:endParaRPr lang="es-AR" dirty="0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4482679"/>
            <a:ext cx="2019299" cy="134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8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579</Words>
  <Application>Microsoft Office PowerPoint</Application>
  <PresentationFormat>Presentación en pantalla (4:3)</PresentationFormat>
  <Paragraphs>72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12</cp:revision>
  <dcterms:created xsi:type="dcterms:W3CDTF">2021-04-30T01:24:27Z</dcterms:created>
  <dcterms:modified xsi:type="dcterms:W3CDTF">2021-06-09T13:29:03Z</dcterms:modified>
</cp:coreProperties>
</file>